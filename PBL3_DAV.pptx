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obby Jones Soft" charset="1" panose="00000000000000000000"/>
      <p:regular r:id="rId18"/>
    </p:embeddedFont>
    <p:embeddedFont>
      <p:font typeface="Archivo Black" charset="1" panose="020B0A03020202020B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19" Target="../media/image30.png" Type="http://schemas.openxmlformats.org/officeDocument/2006/relationships/image"/><Relationship Id="rId2" Target="../media/image1.jpeg" Type="http://schemas.openxmlformats.org/officeDocument/2006/relationships/image"/><Relationship Id="rId20" Target="../media/image31.svg" Type="http://schemas.openxmlformats.org/officeDocument/2006/relationships/image"/><Relationship Id="rId21" Target="../media/image32.png" Type="http://schemas.openxmlformats.org/officeDocument/2006/relationships/image"/><Relationship Id="rId22" Target="../media/image33.svg" Type="http://schemas.openxmlformats.org/officeDocument/2006/relationships/image"/><Relationship Id="rId23" Target="../media/image34.png" Type="http://schemas.openxmlformats.org/officeDocument/2006/relationships/image"/><Relationship Id="rId24" Target="../media/image35.svg" Type="http://schemas.openxmlformats.org/officeDocument/2006/relationships/image"/><Relationship Id="rId25" Target="../media/image36.png" Type="http://schemas.openxmlformats.org/officeDocument/2006/relationships/image"/><Relationship Id="rId26" Target="../media/image37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0615">
            <a:off x="7457134" y="6611054"/>
            <a:ext cx="5009577" cy="1578017"/>
          </a:xfrm>
          <a:custGeom>
            <a:avLst/>
            <a:gdLst/>
            <a:ahLst/>
            <a:cxnLst/>
            <a:rect r="r" b="b" t="t" l="l"/>
            <a:pathLst>
              <a:path h="1578017" w="5009577">
                <a:moveTo>
                  <a:pt x="0" y="0"/>
                </a:moveTo>
                <a:lnTo>
                  <a:pt x="5009576" y="0"/>
                </a:lnTo>
                <a:lnTo>
                  <a:pt x="5009576" y="1578017"/>
                </a:lnTo>
                <a:lnTo>
                  <a:pt x="0" y="1578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8677" y="3615504"/>
            <a:ext cx="12990647" cy="325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2405"/>
              </a:lnSpc>
            </a:pPr>
            <a:r>
              <a:rPr lang="en-US" sz="12405" spc="62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BANK LOAN DEFAULT PREDICTOR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875829">
            <a:off x="15363618" y="2765910"/>
            <a:ext cx="1813808" cy="1652214"/>
          </a:xfrm>
          <a:custGeom>
            <a:avLst/>
            <a:gdLst/>
            <a:ahLst/>
            <a:cxnLst/>
            <a:rect r="r" b="b" t="t" l="l"/>
            <a:pathLst>
              <a:path h="1652214" w="1813808">
                <a:moveTo>
                  <a:pt x="0" y="0"/>
                </a:moveTo>
                <a:lnTo>
                  <a:pt x="1813807" y="0"/>
                </a:lnTo>
                <a:lnTo>
                  <a:pt x="1813807" y="1652214"/>
                </a:lnTo>
                <a:lnTo>
                  <a:pt x="0" y="1652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2695">
            <a:off x="1230255" y="2265403"/>
            <a:ext cx="1829200" cy="1666235"/>
          </a:xfrm>
          <a:custGeom>
            <a:avLst/>
            <a:gdLst/>
            <a:ahLst/>
            <a:cxnLst/>
            <a:rect r="r" b="b" t="t" l="l"/>
            <a:pathLst>
              <a:path h="1666235" w="1829200">
                <a:moveTo>
                  <a:pt x="0" y="0"/>
                </a:moveTo>
                <a:lnTo>
                  <a:pt x="1829200" y="0"/>
                </a:lnTo>
                <a:lnTo>
                  <a:pt x="1829200" y="1666235"/>
                </a:lnTo>
                <a:lnTo>
                  <a:pt x="0" y="1666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2161" y="596086"/>
            <a:ext cx="1455328" cy="1827467"/>
          </a:xfrm>
          <a:custGeom>
            <a:avLst/>
            <a:gdLst/>
            <a:ahLst/>
            <a:cxnLst/>
            <a:rect r="r" b="b" t="t" l="l"/>
            <a:pathLst>
              <a:path h="1827467" w="1455328">
                <a:moveTo>
                  <a:pt x="0" y="0"/>
                </a:moveTo>
                <a:lnTo>
                  <a:pt x="1455328" y="0"/>
                </a:lnTo>
                <a:lnTo>
                  <a:pt x="1455328" y="1827467"/>
                </a:lnTo>
                <a:lnTo>
                  <a:pt x="0" y="1827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1893" y="8965633"/>
            <a:ext cx="2620560" cy="1788532"/>
          </a:xfrm>
          <a:custGeom>
            <a:avLst/>
            <a:gdLst/>
            <a:ahLst/>
            <a:cxnLst/>
            <a:rect r="r" b="b" t="t" l="l"/>
            <a:pathLst>
              <a:path h="1788532" w="2620560">
                <a:moveTo>
                  <a:pt x="0" y="0"/>
                </a:moveTo>
                <a:lnTo>
                  <a:pt x="2620559" y="0"/>
                </a:lnTo>
                <a:lnTo>
                  <a:pt x="2620559" y="1788532"/>
                </a:lnTo>
                <a:lnTo>
                  <a:pt x="0" y="17885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0779" y="8965633"/>
            <a:ext cx="2825289" cy="693480"/>
          </a:xfrm>
          <a:custGeom>
            <a:avLst/>
            <a:gdLst/>
            <a:ahLst/>
            <a:cxnLst/>
            <a:rect r="r" b="b" t="t" l="l"/>
            <a:pathLst>
              <a:path h="693480" w="2825289">
                <a:moveTo>
                  <a:pt x="0" y="0"/>
                </a:moveTo>
                <a:lnTo>
                  <a:pt x="2825289" y="0"/>
                </a:lnTo>
                <a:lnTo>
                  <a:pt x="2825289" y="693480"/>
                </a:lnTo>
                <a:lnTo>
                  <a:pt x="0" y="693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29503" y="5910442"/>
            <a:ext cx="732949" cy="2057400"/>
          </a:xfrm>
          <a:custGeom>
            <a:avLst/>
            <a:gdLst/>
            <a:ahLst/>
            <a:cxnLst/>
            <a:rect r="r" b="b" t="t" l="l"/>
            <a:pathLst>
              <a:path h="2057400" w="732949">
                <a:moveTo>
                  <a:pt x="0" y="0"/>
                </a:moveTo>
                <a:lnTo>
                  <a:pt x="732949" y="0"/>
                </a:lnTo>
                <a:lnTo>
                  <a:pt x="7329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35083">
            <a:off x="4921038" y="1824839"/>
            <a:ext cx="1738552" cy="1197428"/>
          </a:xfrm>
          <a:custGeom>
            <a:avLst/>
            <a:gdLst/>
            <a:ahLst/>
            <a:cxnLst/>
            <a:rect r="r" b="b" t="t" l="l"/>
            <a:pathLst>
              <a:path h="1197428" w="1738552">
                <a:moveTo>
                  <a:pt x="0" y="0"/>
                </a:moveTo>
                <a:lnTo>
                  <a:pt x="1738552" y="0"/>
                </a:lnTo>
                <a:lnTo>
                  <a:pt x="1738552" y="1197428"/>
                </a:lnTo>
                <a:lnTo>
                  <a:pt x="0" y="11974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029503" y="-778297"/>
            <a:ext cx="1917264" cy="2748766"/>
          </a:xfrm>
          <a:custGeom>
            <a:avLst/>
            <a:gdLst/>
            <a:ahLst/>
            <a:cxnLst/>
            <a:rect r="r" b="b" t="t" l="l"/>
            <a:pathLst>
              <a:path h="2748766" w="1917264">
                <a:moveTo>
                  <a:pt x="0" y="0"/>
                </a:moveTo>
                <a:lnTo>
                  <a:pt x="1917264" y="0"/>
                </a:lnTo>
                <a:lnTo>
                  <a:pt x="1917264" y="2748766"/>
                </a:lnTo>
                <a:lnTo>
                  <a:pt x="0" y="27487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8074" y="5387069"/>
            <a:ext cx="1219415" cy="2580773"/>
          </a:xfrm>
          <a:custGeom>
            <a:avLst/>
            <a:gdLst/>
            <a:ahLst/>
            <a:cxnLst/>
            <a:rect r="r" b="b" t="t" l="l"/>
            <a:pathLst>
              <a:path h="2580773" w="1219415">
                <a:moveTo>
                  <a:pt x="0" y="0"/>
                </a:moveTo>
                <a:lnTo>
                  <a:pt x="1219415" y="0"/>
                </a:lnTo>
                <a:lnTo>
                  <a:pt x="1219415" y="2580773"/>
                </a:lnTo>
                <a:lnTo>
                  <a:pt x="0" y="25807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05049" y="-2835697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4" y="0"/>
                </a:lnTo>
                <a:lnTo>
                  <a:pt x="4499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83975" y="681960"/>
            <a:ext cx="2825289" cy="693480"/>
          </a:xfrm>
          <a:custGeom>
            <a:avLst/>
            <a:gdLst/>
            <a:ahLst/>
            <a:cxnLst/>
            <a:rect r="r" b="b" t="t" l="l"/>
            <a:pathLst>
              <a:path h="693480" w="2825289">
                <a:moveTo>
                  <a:pt x="0" y="0"/>
                </a:moveTo>
                <a:lnTo>
                  <a:pt x="2825288" y="0"/>
                </a:lnTo>
                <a:lnTo>
                  <a:pt x="2825288" y="693480"/>
                </a:lnTo>
                <a:lnTo>
                  <a:pt x="0" y="693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29503" y="-778297"/>
            <a:ext cx="1917264" cy="2748766"/>
          </a:xfrm>
          <a:custGeom>
            <a:avLst/>
            <a:gdLst/>
            <a:ahLst/>
            <a:cxnLst/>
            <a:rect r="r" b="b" t="t" l="l"/>
            <a:pathLst>
              <a:path h="2748766" w="1917264">
                <a:moveTo>
                  <a:pt x="0" y="0"/>
                </a:moveTo>
                <a:lnTo>
                  <a:pt x="1917264" y="0"/>
                </a:lnTo>
                <a:lnTo>
                  <a:pt x="1917264" y="2748766"/>
                </a:lnTo>
                <a:lnTo>
                  <a:pt x="0" y="2748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8992" y="3853113"/>
            <a:ext cx="1219415" cy="2580773"/>
          </a:xfrm>
          <a:custGeom>
            <a:avLst/>
            <a:gdLst/>
            <a:ahLst/>
            <a:cxnLst/>
            <a:rect r="r" b="b" t="t" l="l"/>
            <a:pathLst>
              <a:path h="2580773" w="1219415">
                <a:moveTo>
                  <a:pt x="0" y="0"/>
                </a:moveTo>
                <a:lnTo>
                  <a:pt x="1219416" y="0"/>
                </a:lnTo>
                <a:lnTo>
                  <a:pt x="1219416" y="2580774"/>
                </a:lnTo>
                <a:lnTo>
                  <a:pt x="0" y="25807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05049" y="-2835697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4" y="0"/>
                </a:lnTo>
                <a:lnTo>
                  <a:pt x="4499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08956" y="8856794"/>
            <a:ext cx="3950344" cy="2582537"/>
          </a:xfrm>
          <a:custGeom>
            <a:avLst/>
            <a:gdLst/>
            <a:ahLst/>
            <a:cxnLst/>
            <a:rect r="r" b="b" t="t" l="l"/>
            <a:pathLst>
              <a:path h="2582537" w="3950344">
                <a:moveTo>
                  <a:pt x="0" y="0"/>
                </a:moveTo>
                <a:lnTo>
                  <a:pt x="3950344" y="0"/>
                </a:lnTo>
                <a:lnTo>
                  <a:pt x="3950344" y="2582538"/>
                </a:lnTo>
                <a:lnTo>
                  <a:pt x="0" y="25825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83975" y="8112877"/>
            <a:ext cx="3022891" cy="3092471"/>
          </a:xfrm>
          <a:custGeom>
            <a:avLst/>
            <a:gdLst/>
            <a:ahLst/>
            <a:cxnLst/>
            <a:rect r="r" b="b" t="t" l="l"/>
            <a:pathLst>
              <a:path h="3092471" w="3022891">
                <a:moveTo>
                  <a:pt x="0" y="0"/>
                </a:moveTo>
                <a:lnTo>
                  <a:pt x="3022890" y="0"/>
                </a:lnTo>
                <a:lnTo>
                  <a:pt x="3022890" y="3092472"/>
                </a:lnTo>
                <a:lnTo>
                  <a:pt x="0" y="30924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50124" y="4086232"/>
            <a:ext cx="2233766" cy="2800960"/>
          </a:xfrm>
          <a:custGeom>
            <a:avLst/>
            <a:gdLst/>
            <a:ahLst/>
            <a:cxnLst/>
            <a:rect r="r" b="b" t="t" l="l"/>
            <a:pathLst>
              <a:path h="2800960" w="2233766">
                <a:moveTo>
                  <a:pt x="0" y="0"/>
                </a:moveTo>
                <a:lnTo>
                  <a:pt x="2233766" y="0"/>
                </a:lnTo>
                <a:lnTo>
                  <a:pt x="2233766" y="2800960"/>
                </a:lnTo>
                <a:lnTo>
                  <a:pt x="0" y="28009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320938" y="9258300"/>
            <a:ext cx="3516444" cy="448347"/>
          </a:xfrm>
          <a:custGeom>
            <a:avLst/>
            <a:gdLst/>
            <a:ahLst/>
            <a:cxnLst/>
            <a:rect r="r" b="b" t="t" l="l"/>
            <a:pathLst>
              <a:path h="448347" w="3516444">
                <a:moveTo>
                  <a:pt x="0" y="0"/>
                </a:moveTo>
                <a:lnTo>
                  <a:pt x="3516444" y="0"/>
                </a:lnTo>
                <a:lnTo>
                  <a:pt x="3516444" y="448347"/>
                </a:lnTo>
                <a:lnTo>
                  <a:pt x="0" y="4483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58208" y="1412453"/>
            <a:ext cx="1164612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000"/>
              </a:lnSpc>
            </a:pPr>
            <a:r>
              <a:rPr lang="en-US" sz="8000" spc="4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1937" y="2700469"/>
            <a:ext cx="8625982" cy="615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Develop an AI model that analyzes 18 key factors to predict loan default risk.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Evaluate multiple aspects of a customer’s profile, including: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Personal demographics and credit history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Loan characteristics and terms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Financial capacity and debt ratios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Property and collateral information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Provide risk assessment guidance to support financial institutions in data-driven loan decisions.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Ensure the tool serves as decision support, to be used alongside human judgment for final approvals.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04279" y="2748094"/>
            <a:ext cx="3411767" cy="5716022"/>
            <a:chOff x="0" y="0"/>
            <a:chExt cx="4549023" cy="76213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130173" y="2969341"/>
              <a:ext cx="2412951" cy="2025155"/>
            </a:xfrm>
            <a:custGeom>
              <a:avLst/>
              <a:gdLst/>
              <a:ahLst/>
              <a:cxnLst/>
              <a:rect r="r" b="b" t="t" l="l"/>
              <a:pathLst>
                <a:path h="2025155" w="2412951">
                  <a:moveTo>
                    <a:pt x="0" y="0"/>
                  </a:moveTo>
                  <a:lnTo>
                    <a:pt x="2412950" y="0"/>
                  </a:lnTo>
                  <a:lnTo>
                    <a:pt x="2412950" y="2025155"/>
                  </a:lnTo>
                  <a:lnTo>
                    <a:pt x="0" y="2025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40111" y="0"/>
              <a:ext cx="993075" cy="1159642"/>
            </a:xfrm>
            <a:custGeom>
              <a:avLst/>
              <a:gdLst/>
              <a:ahLst/>
              <a:cxnLst/>
              <a:rect r="r" b="b" t="t" l="l"/>
              <a:pathLst>
                <a:path h="1159642" w="993075">
                  <a:moveTo>
                    <a:pt x="0" y="0"/>
                  </a:moveTo>
                  <a:lnTo>
                    <a:pt x="993075" y="0"/>
                  </a:lnTo>
                  <a:lnTo>
                    <a:pt x="993075" y="1159642"/>
                  </a:lnTo>
                  <a:lnTo>
                    <a:pt x="0" y="1159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2035410" y="1838839"/>
              <a:ext cx="602476" cy="60247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1820302">
              <a:off x="1130173" y="5777706"/>
              <a:ext cx="602476" cy="6024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1823602">
              <a:off x="2940648" y="5777706"/>
              <a:ext cx="602476" cy="60247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203200" y="-38100"/>
                <a:ext cx="406400" cy="749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6491190"/>
              <a:ext cx="1130173" cy="1130173"/>
            </a:xfrm>
            <a:custGeom>
              <a:avLst/>
              <a:gdLst/>
              <a:ahLst/>
              <a:cxnLst/>
              <a:rect r="r" b="b" t="t" l="l"/>
              <a:pathLst>
                <a:path h="1130173" w="1130173">
                  <a:moveTo>
                    <a:pt x="0" y="0"/>
                  </a:moveTo>
                  <a:lnTo>
                    <a:pt x="1130173" y="0"/>
                  </a:lnTo>
                  <a:lnTo>
                    <a:pt x="1130173" y="1130172"/>
                  </a:lnTo>
                  <a:lnTo>
                    <a:pt x="0" y="11301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543123" y="6615462"/>
              <a:ext cx="1005900" cy="1005900"/>
            </a:xfrm>
            <a:custGeom>
              <a:avLst/>
              <a:gdLst/>
              <a:ahLst/>
              <a:cxnLst/>
              <a:rect r="r" b="b" t="t" l="l"/>
              <a:pathLst>
                <a:path h="1005900" w="1005900">
                  <a:moveTo>
                    <a:pt x="0" y="0"/>
                  </a:moveTo>
                  <a:lnTo>
                    <a:pt x="1005900" y="0"/>
                  </a:lnTo>
                  <a:lnTo>
                    <a:pt x="1005900" y="1005900"/>
                  </a:lnTo>
                  <a:lnTo>
                    <a:pt x="0" y="100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5148" y="2919729"/>
            <a:ext cx="7934152" cy="189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00"/>
              </a:lnSpc>
            </a:pPr>
            <a:r>
              <a:rPr lang="en-US" sz="7200" spc="36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Where did we get the dataset?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967676">
            <a:off x="16547592" y="271713"/>
            <a:ext cx="1219415" cy="2580773"/>
          </a:xfrm>
          <a:custGeom>
            <a:avLst/>
            <a:gdLst/>
            <a:ahLst/>
            <a:cxnLst/>
            <a:rect r="r" b="b" t="t" l="l"/>
            <a:pathLst>
              <a:path h="2580773" w="1219415">
                <a:moveTo>
                  <a:pt x="0" y="0"/>
                </a:moveTo>
                <a:lnTo>
                  <a:pt x="1219415" y="0"/>
                </a:lnTo>
                <a:lnTo>
                  <a:pt x="1219415" y="2580774"/>
                </a:lnTo>
                <a:lnTo>
                  <a:pt x="0" y="2580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13702" y="8740764"/>
            <a:ext cx="3022891" cy="3092471"/>
          </a:xfrm>
          <a:custGeom>
            <a:avLst/>
            <a:gdLst/>
            <a:ahLst/>
            <a:cxnLst/>
            <a:rect r="r" b="b" t="t" l="l"/>
            <a:pathLst>
              <a:path h="3092471" w="3022891">
                <a:moveTo>
                  <a:pt x="0" y="0"/>
                </a:moveTo>
                <a:lnTo>
                  <a:pt x="3022891" y="0"/>
                </a:lnTo>
                <a:lnTo>
                  <a:pt x="3022891" y="3092472"/>
                </a:lnTo>
                <a:lnTo>
                  <a:pt x="0" y="309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06726" y="8404388"/>
            <a:ext cx="2233766" cy="2800960"/>
          </a:xfrm>
          <a:custGeom>
            <a:avLst/>
            <a:gdLst/>
            <a:ahLst/>
            <a:cxnLst/>
            <a:rect r="r" b="b" t="t" l="l"/>
            <a:pathLst>
              <a:path h="2800960" w="2233766">
                <a:moveTo>
                  <a:pt x="0" y="0"/>
                </a:moveTo>
                <a:lnTo>
                  <a:pt x="2233765" y="0"/>
                </a:lnTo>
                <a:lnTo>
                  <a:pt x="2233765" y="2800961"/>
                </a:lnTo>
                <a:lnTo>
                  <a:pt x="0" y="28009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30543" y="1951920"/>
            <a:ext cx="6383159" cy="638315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254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2540">
                  <a:moveTo>
                    <a:pt x="5472430" y="2223770"/>
                  </a:moveTo>
                  <a:cubicBezTo>
                    <a:pt x="5795010" y="1845310"/>
                    <a:pt x="5772150" y="1281430"/>
                    <a:pt x="5420360" y="929640"/>
                  </a:cubicBezTo>
                  <a:cubicBezTo>
                    <a:pt x="5068570" y="577850"/>
                    <a:pt x="4505960" y="554990"/>
                    <a:pt x="4126230" y="877570"/>
                  </a:cubicBezTo>
                  <a:cubicBezTo>
                    <a:pt x="4086860" y="382270"/>
                    <a:pt x="3672840" y="0"/>
                    <a:pt x="3175000" y="0"/>
                  </a:cubicBezTo>
                  <a:cubicBezTo>
                    <a:pt x="2677160" y="0"/>
                    <a:pt x="2263140" y="382270"/>
                    <a:pt x="2223770" y="878840"/>
                  </a:cubicBezTo>
                  <a:cubicBezTo>
                    <a:pt x="1845310" y="556260"/>
                    <a:pt x="1281430" y="579120"/>
                    <a:pt x="929640" y="930910"/>
                  </a:cubicBezTo>
                  <a:cubicBezTo>
                    <a:pt x="577850" y="1282700"/>
                    <a:pt x="554990" y="1845310"/>
                    <a:pt x="877570" y="2225040"/>
                  </a:cubicBezTo>
                  <a:cubicBezTo>
                    <a:pt x="382270" y="2263140"/>
                    <a:pt x="0" y="2677160"/>
                    <a:pt x="0" y="3175000"/>
                  </a:cubicBezTo>
                  <a:cubicBezTo>
                    <a:pt x="0" y="3672840"/>
                    <a:pt x="382270" y="4086860"/>
                    <a:pt x="878840" y="4126230"/>
                  </a:cubicBezTo>
                  <a:cubicBezTo>
                    <a:pt x="556260" y="4504690"/>
                    <a:pt x="579120" y="5068570"/>
                    <a:pt x="930910" y="5420360"/>
                  </a:cubicBezTo>
                  <a:cubicBezTo>
                    <a:pt x="1282700" y="5772150"/>
                    <a:pt x="1845310" y="5795010"/>
                    <a:pt x="2225040" y="5472430"/>
                  </a:cubicBezTo>
                  <a:cubicBezTo>
                    <a:pt x="2264410" y="5969000"/>
                    <a:pt x="2678430" y="6351270"/>
                    <a:pt x="3176270" y="6351270"/>
                  </a:cubicBezTo>
                  <a:cubicBezTo>
                    <a:pt x="3674110" y="6351270"/>
                    <a:pt x="4088130" y="5969000"/>
                    <a:pt x="4127500" y="5473700"/>
                  </a:cubicBezTo>
                  <a:cubicBezTo>
                    <a:pt x="4505960" y="5796280"/>
                    <a:pt x="5069840" y="5773420"/>
                    <a:pt x="5421630" y="5421630"/>
                  </a:cubicBezTo>
                  <a:cubicBezTo>
                    <a:pt x="5773420" y="5069840"/>
                    <a:pt x="5796280" y="4507230"/>
                    <a:pt x="5473700" y="4127500"/>
                  </a:cubicBezTo>
                  <a:cubicBezTo>
                    <a:pt x="5970270" y="4088130"/>
                    <a:pt x="6352540" y="3674110"/>
                    <a:pt x="6352540" y="3176270"/>
                  </a:cubicBezTo>
                  <a:cubicBezTo>
                    <a:pt x="6350000" y="2677160"/>
                    <a:pt x="5967730" y="2263140"/>
                    <a:pt x="5472430" y="2223770"/>
                  </a:cubicBezTo>
                  <a:close/>
                </a:path>
              </a:pathLst>
            </a:custGeom>
            <a:blipFill>
              <a:blip r:embed="rId9"/>
              <a:stretch>
                <a:fillRect l="-188486" t="-22149" r="-37081" b="-6107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325148" y="4911303"/>
            <a:ext cx="7934152" cy="265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Platform: Kaggle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Dataset Name: “Bank Loan Default Prediction” (or actual Kaggle title)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Rows: 173559 Columns: 34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Contains details of personal demographics, financials, and loan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63406">
            <a:off x="12132254" y="429986"/>
            <a:ext cx="1738552" cy="1197428"/>
          </a:xfrm>
          <a:custGeom>
            <a:avLst/>
            <a:gdLst/>
            <a:ahLst/>
            <a:cxnLst/>
            <a:rect r="r" b="b" t="t" l="l"/>
            <a:pathLst>
              <a:path h="1197428" w="1738552">
                <a:moveTo>
                  <a:pt x="0" y="0"/>
                </a:moveTo>
                <a:lnTo>
                  <a:pt x="1738552" y="0"/>
                </a:lnTo>
                <a:lnTo>
                  <a:pt x="1738552" y="1197428"/>
                </a:lnTo>
                <a:lnTo>
                  <a:pt x="0" y="119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06060" y="3464526"/>
          <a:ext cx="17675880" cy="5793774"/>
        </p:xfrm>
        <a:graphic>
          <a:graphicData uri="http://schemas.openxmlformats.org/drawingml/2006/table">
            <a:tbl>
              <a:tblPr/>
              <a:tblGrid>
                <a:gridCol w="2285667"/>
                <a:gridCol w="2285667"/>
                <a:gridCol w="2285667"/>
                <a:gridCol w="2285667"/>
                <a:gridCol w="2285667"/>
                <a:gridCol w="2285667"/>
                <a:gridCol w="2285667"/>
                <a:gridCol w="1676214"/>
              </a:tblGrid>
              <a:tr h="11365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Personal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5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 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loan_amount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term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Neg_ammortization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interest_only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lump_sum_payment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5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Financial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Credit_Worthiness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open_credit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rate_of_interest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Interest_rate_spread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Upfront_charges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income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dtir1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77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Property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property_value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construction_type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occupancy_type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Secured_by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total_units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5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Additional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loan_limit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approv_in_adv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submission_of_application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Security_Type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5286470" y="1916361"/>
            <a:ext cx="7715060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00"/>
              </a:lnSpc>
            </a:pPr>
            <a:r>
              <a:rPr lang="en-US" sz="8000" spc="4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original dataset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91299" y="3472292"/>
            <a:ext cx="11705403" cy="101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500"/>
              </a:lnSpc>
            </a:pPr>
            <a:r>
              <a:rPr lang="en-US" sz="7500" spc="37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why we preprocessed it?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18899" y="4639875"/>
            <a:ext cx="9450202" cy="264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Raw data contains missing values, duplicates, and irrelevant columns.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Categorical data needs to be converted to numerical format for modeling.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Ensures the dataset is clean, consistent, and ready for machine learning.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875829">
            <a:off x="14375366" y="2554321"/>
            <a:ext cx="1242670" cy="1131960"/>
          </a:xfrm>
          <a:custGeom>
            <a:avLst/>
            <a:gdLst/>
            <a:ahLst/>
            <a:cxnLst/>
            <a:rect r="r" b="b" t="t" l="l"/>
            <a:pathLst>
              <a:path h="1131960" w="1242670">
                <a:moveTo>
                  <a:pt x="0" y="0"/>
                </a:moveTo>
                <a:lnTo>
                  <a:pt x="1242671" y="0"/>
                </a:lnTo>
                <a:lnTo>
                  <a:pt x="1242671" y="1131960"/>
                </a:lnTo>
                <a:lnTo>
                  <a:pt x="0" y="113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479314">
            <a:off x="3000974" y="6733822"/>
            <a:ext cx="1253216" cy="1141566"/>
          </a:xfrm>
          <a:custGeom>
            <a:avLst/>
            <a:gdLst/>
            <a:ahLst/>
            <a:cxnLst/>
            <a:rect r="r" b="b" t="t" l="l"/>
            <a:pathLst>
              <a:path h="1141566" w="1253216">
                <a:moveTo>
                  <a:pt x="0" y="0"/>
                </a:moveTo>
                <a:lnTo>
                  <a:pt x="1253216" y="0"/>
                </a:lnTo>
                <a:lnTo>
                  <a:pt x="1253216" y="1141566"/>
                </a:lnTo>
                <a:lnTo>
                  <a:pt x="0" y="1141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882630" cy="2364033"/>
          </a:xfrm>
          <a:custGeom>
            <a:avLst/>
            <a:gdLst/>
            <a:ahLst/>
            <a:cxnLst/>
            <a:rect r="r" b="b" t="t" l="l"/>
            <a:pathLst>
              <a:path h="2364033" w="1882630">
                <a:moveTo>
                  <a:pt x="0" y="0"/>
                </a:moveTo>
                <a:lnTo>
                  <a:pt x="1882630" y="0"/>
                </a:lnTo>
                <a:lnTo>
                  <a:pt x="1882630" y="2364033"/>
                </a:lnTo>
                <a:lnTo>
                  <a:pt x="0" y="2364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94216" y="6549291"/>
            <a:ext cx="965084" cy="2709009"/>
          </a:xfrm>
          <a:custGeom>
            <a:avLst/>
            <a:gdLst/>
            <a:ahLst/>
            <a:cxnLst/>
            <a:rect r="r" b="b" t="t" l="l"/>
            <a:pathLst>
              <a:path h="2709009" w="965084">
                <a:moveTo>
                  <a:pt x="0" y="0"/>
                </a:moveTo>
                <a:lnTo>
                  <a:pt x="965084" y="0"/>
                </a:lnTo>
                <a:lnTo>
                  <a:pt x="965084" y="2709009"/>
                </a:lnTo>
                <a:lnTo>
                  <a:pt x="0" y="27090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5043" y="8740764"/>
            <a:ext cx="3022891" cy="3092471"/>
          </a:xfrm>
          <a:custGeom>
            <a:avLst/>
            <a:gdLst/>
            <a:ahLst/>
            <a:cxnLst/>
            <a:rect r="r" b="b" t="t" l="l"/>
            <a:pathLst>
              <a:path h="3092471" w="3022891">
                <a:moveTo>
                  <a:pt x="0" y="0"/>
                </a:moveTo>
                <a:lnTo>
                  <a:pt x="3022890" y="0"/>
                </a:lnTo>
                <a:lnTo>
                  <a:pt x="3022890" y="3092472"/>
                </a:lnTo>
                <a:lnTo>
                  <a:pt x="0" y="309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6045" y="-2207879"/>
            <a:ext cx="3947955" cy="3572899"/>
          </a:xfrm>
          <a:custGeom>
            <a:avLst/>
            <a:gdLst/>
            <a:ahLst/>
            <a:cxnLst/>
            <a:rect r="r" b="b" t="t" l="l"/>
            <a:pathLst>
              <a:path h="3572899" w="3947955">
                <a:moveTo>
                  <a:pt x="0" y="0"/>
                </a:moveTo>
                <a:lnTo>
                  <a:pt x="3947955" y="0"/>
                </a:lnTo>
                <a:lnTo>
                  <a:pt x="3947955" y="3572899"/>
                </a:lnTo>
                <a:lnTo>
                  <a:pt x="0" y="3572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80392" y="420774"/>
            <a:ext cx="1341545" cy="2794886"/>
          </a:xfrm>
          <a:custGeom>
            <a:avLst/>
            <a:gdLst/>
            <a:ahLst/>
            <a:cxnLst/>
            <a:rect r="r" b="b" t="t" l="l"/>
            <a:pathLst>
              <a:path h="2794886" w="1341545">
                <a:moveTo>
                  <a:pt x="0" y="0"/>
                </a:moveTo>
                <a:lnTo>
                  <a:pt x="1341546" y="0"/>
                </a:lnTo>
                <a:lnTo>
                  <a:pt x="1341546" y="2794886"/>
                </a:lnTo>
                <a:lnTo>
                  <a:pt x="0" y="27948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9700" y="1456461"/>
            <a:ext cx="10631143" cy="204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800"/>
              </a:lnSpc>
            </a:pPr>
            <a:r>
              <a:rPr lang="en-US" sz="7800" spc="39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steps in preprocessing the data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53878" y="3465406"/>
            <a:ext cx="7097287" cy="2434044"/>
            <a:chOff x="0" y="0"/>
            <a:chExt cx="2213460" cy="7591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15193" y="4134741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03.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1175" y="4365627"/>
            <a:ext cx="3945453" cy="51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H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andled missing values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09700" y="6103085"/>
            <a:ext cx="7097287" cy="2434044"/>
            <a:chOff x="0" y="0"/>
            <a:chExt cx="2213460" cy="759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71016" y="6772420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3660" y="6727081"/>
            <a:ext cx="3945453" cy="107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Loaded the dataset using Pandas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09700" y="3465406"/>
            <a:ext cx="7097287" cy="2434044"/>
            <a:chOff x="0" y="0"/>
            <a:chExt cx="2213460" cy="7591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71016" y="4134741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3404" y="3815462"/>
            <a:ext cx="3945453" cy="162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emoved unnecessary columns (irrelevant identifiers)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53878" y="6103085"/>
            <a:ext cx="7097287" cy="2434044"/>
            <a:chOff x="0" y="0"/>
            <a:chExt cx="2213460" cy="759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415193" y="6772420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04.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81175" y="6727081"/>
            <a:ext cx="3945453" cy="107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emoved duplicate records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5043" y="8740764"/>
            <a:ext cx="3022891" cy="3092471"/>
          </a:xfrm>
          <a:custGeom>
            <a:avLst/>
            <a:gdLst/>
            <a:ahLst/>
            <a:cxnLst/>
            <a:rect r="r" b="b" t="t" l="l"/>
            <a:pathLst>
              <a:path h="3092471" w="3022891">
                <a:moveTo>
                  <a:pt x="0" y="0"/>
                </a:moveTo>
                <a:lnTo>
                  <a:pt x="3022890" y="0"/>
                </a:lnTo>
                <a:lnTo>
                  <a:pt x="3022890" y="3092472"/>
                </a:lnTo>
                <a:lnTo>
                  <a:pt x="0" y="309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72528" y="7806656"/>
            <a:ext cx="3947955" cy="3572899"/>
          </a:xfrm>
          <a:custGeom>
            <a:avLst/>
            <a:gdLst/>
            <a:ahLst/>
            <a:cxnLst/>
            <a:rect r="r" b="b" t="t" l="l"/>
            <a:pathLst>
              <a:path h="3572899" w="3947955">
                <a:moveTo>
                  <a:pt x="0" y="0"/>
                </a:moveTo>
                <a:lnTo>
                  <a:pt x="3947955" y="0"/>
                </a:lnTo>
                <a:lnTo>
                  <a:pt x="3947955" y="3572899"/>
                </a:lnTo>
                <a:lnTo>
                  <a:pt x="0" y="3572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1642" y="5220212"/>
            <a:ext cx="7097287" cy="2434044"/>
            <a:chOff x="0" y="0"/>
            <a:chExt cx="2213460" cy="7591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82958" y="5889546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06.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56159" y="928396"/>
            <a:ext cx="1917264" cy="2748766"/>
          </a:xfrm>
          <a:custGeom>
            <a:avLst/>
            <a:gdLst/>
            <a:ahLst/>
            <a:cxnLst/>
            <a:rect r="r" b="b" t="t" l="l"/>
            <a:pathLst>
              <a:path h="2748766" w="1917264">
                <a:moveTo>
                  <a:pt x="0" y="0"/>
                </a:moveTo>
                <a:lnTo>
                  <a:pt x="1917264" y="0"/>
                </a:lnTo>
                <a:lnTo>
                  <a:pt x="1917264" y="2748766"/>
                </a:lnTo>
                <a:lnTo>
                  <a:pt x="0" y="2748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21642" y="2632744"/>
            <a:ext cx="7097287" cy="2434044"/>
            <a:chOff x="0" y="0"/>
            <a:chExt cx="2213460" cy="759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82958" y="3302079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05.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69071" y="2632744"/>
            <a:ext cx="7097287" cy="2434044"/>
            <a:chOff x="0" y="0"/>
            <a:chExt cx="2213460" cy="759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30387" y="3302079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07.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69071" y="5220212"/>
            <a:ext cx="7097287" cy="2434044"/>
            <a:chOff x="0" y="0"/>
            <a:chExt cx="2213460" cy="7591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FFBF7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230387" y="5889546"/>
            <a:ext cx="1682388" cy="130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08.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76488" y="3256740"/>
            <a:ext cx="3945453" cy="107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Fix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ed data types (e.g., converted date columns)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76488" y="5844207"/>
            <a:ext cx="3945453" cy="107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Renam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ed columns to standardized names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27075" y="2978229"/>
            <a:ext cx="3945453" cy="162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Det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ected and removed outliers using the IQR method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27075" y="5565696"/>
            <a:ext cx="3945453" cy="162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Saved th</a:t>
            </a:r>
            <a:r>
              <a:rPr lang="en-US" sz="2699" strike="noStrike" u="none">
                <a:solidFill>
                  <a:srgbClr val="000000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 cleaned dataset for further modeling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892070" y="-1253580"/>
            <a:ext cx="3950344" cy="2582537"/>
          </a:xfrm>
          <a:custGeom>
            <a:avLst/>
            <a:gdLst/>
            <a:ahLst/>
            <a:cxnLst/>
            <a:rect r="r" b="b" t="t" l="l"/>
            <a:pathLst>
              <a:path h="2582537" w="3950344">
                <a:moveTo>
                  <a:pt x="0" y="0"/>
                </a:moveTo>
                <a:lnTo>
                  <a:pt x="3950343" y="0"/>
                </a:lnTo>
                <a:lnTo>
                  <a:pt x="3950343" y="2582537"/>
                </a:lnTo>
                <a:lnTo>
                  <a:pt x="0" y="2582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87029" y="9523633"/>
            <a:ext cx="4964703" cy="633000"/>
          </a:xfrm>
          <a:custGeom>
            <a:avLst/>
            <a:gdLst/>
            <a:ahLst/>
            <a:cxnLst/>
            <a:rect r="r" b="b" t="t" l="l"/>
            <a:pathLst>
              <a:path h="633000" w="4964703">
                <a:moveTo>
                  <a:pt x="0" y="0"/>
                </a:moveTo>
                <a:lnTo>
                  <a:pt x="4964703" y="0"/>
                </a:lnTo>
                <a:lnTo>
                  <a:pt x="4964703" y="632999"/>
                </a:lnTo>
                <a:lnTo>
                  <a:pt x="0" y="6329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72092" y="2728513"/>
          <a:ext cx="16743816" cy="6238875"/>
        </p:xfrm>
        <a:graphic>
          <a:graphicData uri="http://schemas.openxmlformats.org/drawingml/2006/table">
            <a:tbl>
              <a:tblPr/>
              <a:tblGrid>
                <a:gridCol w="3348763"/>
                <a:gridCol w="3348763"/>
                <a:gridCol w="3348763"/>
                <a:gridCol w="3348763"/>
                <a:gridCol w="3348763"/>
              </a:tblGrid>
              <a:tr h="843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Personal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 Details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Financial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Property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DE59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Additional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Annual_Income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Property_Value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Secured_By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6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Credit_Score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Loan_to_Value_Ratio (LTV)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Credit_Type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3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Loan_Amount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Credit_Worthiness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Occupancy_Type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Applicant_Credit_Type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6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Term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Debt_to_Income_Ratio (DTIR)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Total_Units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6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Bobby Jones Soft"/>
                          <a:ea typeface="Bobby Jones Soft"/>
                          <a:cs typeface="Bobby Jones Soft"/>
                          <a:sym typeface="Bobby Jones Soft"/>
                        </a:rPr>
                        <a:t>Status (Target Variable)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142795" y="1462307"/>
            <a:ext cx="8002409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00"/>
              </a:lnSpc>
            </a:pPr>
            <a:r>
              <a:rPr lang="en-US" sz="8000" spc="4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The final dataset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7098" y="6779914"/>
            <a:ext cx="1341545" cy="2794886"/>
          </a:xfrm>
          <a:custGeom>
            <a:avLst/>
            <a:gdLst/>
            <a:ahLst/>
            <a:cxnLst/>
            <a:rect r="r" b="b" t="t" l="l"/>
            <a:pathLst>
              <a:path h="2794886" w="1341545">
                <a:moveTo>
                  <a:pt x="0" y="0"/>
                </a:moveTo>
                <a:lnTo>
                  <a:pt x="1341545" y="0"/>
                </a:lnTo>
                <a:lnTo>
                  <a:pt x="1341545" y="2794886"/>
                </a:lnTo>
                <a:lnTo>
                  <a:pt x="0" y="2794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036" y="114967"/>
            <a:ext cx="1455328" cy="1827467"/>
          </a:xfrm>
          <a:custGeom>
            <a:avLst/>
            <a:gdLst/>
            <a:ahLst/>
            <a:cxnLst/>
            <a:rect r="r" b="b" t="t" l="l"/>
            <a:pathLst>
              <a:path h="1827467" w="1455328">
                <a:moveTo>
                  <a:pt x="0" y="0"/>
                </a:moveTo>
                <a:lnTo>
                  <a:pt x="1455328" y="0"/>
                </a:lnTo>
                <a:lnTo>
                  <a:pt x="1455328" y="1827466"/>
                </a:lnTo>
                <a:lnTo>
                  <a:pt x="0" y="1827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27216" y="1028700"/>
            <a:ext cx="11033568" cy="3834165"/>
          </a:xfrm>
          <a:custGeom>
            <a:avLst/>
            <a:gdLst/>
            <a:ahLst/>
            <a:cxnLst/>
            <a:rect r="r" b="b" t="t" l="l"/>
            <a:pathLst>
              <a:path h="3834165" w="11033568">
                <a:moveTo>
                  <a:pt x="0" y="0"/>
                </a:moveTo>
                <a:lnTo>
                  <a:pt x="11033568" y="0"/>
                </a:lnTo>
                <a:lnTo>
                  <a:pt x="11033568" y="3834165"/>
                </a:lnTo>
                <a:lnTo>
                  <a:pt x="0" y="3834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27216" y="5437927"/>
            <a:ext cx="11033568" cy="3820373"/>
          </a:xfrm>
          <a:custGeom>
            <a:avLst/>
            <a:gdLst/>
            <a:ahLst/>
            <a:cxnLst/>
            <a:rect r="r" b="b" t="t" l="l"/>
            <a:pathLst>
              <a:path h="3820373" w="11033568">
                <a:moveTo>
                  <a:pt x="0" y="0"/>
                </a:moveTo>
                <a:lnTo>
                  <a:pt x="11033568" y="0"/>
                </a:lnTo>
                <a:lnTo>
                  <a:pt x="11033568" y="3820373"/>
                </a:lnTo>
                <a:lnTo>
                  <a:pt x="0" y="3820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67098" y="6779914"/>
            <a:ext cx="1341545" cy="2794886"/>
          </a:xfrm>
          <a:custGeom>
            <a:avLst/>
            <a:gdLst/>
            <a:ahLst/>
            <a:cxnLst/>
            <a:rect r="r" b="b" t="t" l="l"/>
            <a:pathLst>
              <a:path h="2794886" w="1341545">
                <a:moveTo>
                  <a:pt x="0" y="0"/>
                </a:moveTo>
                <a:lnTo>
                  <a:pt x="1341545" y="0"/>
                </a:lnTo>
                <a:lnTo>
                  <a:pt x="1341545" y="2794886"/>
                </a:lnTo>
                <a:lnTo>
                  <a:pt x="0" y="27948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1036" y="114967"/>
            <a:ext cx="1455328" cy="1827467"/>
          </a:xfrm>
          <a:custGeom>
            <a:avLst/>
            <a:gdLst/>
            <a:ahLst/>
            <a:cxnLst/>
            <a:rect r="r" b="b" t="t" l="l"/>
            <a:pathLst>
              <a:path h="1827467" w="1455328">
                <a:moveTo>
                  <a:pt x="0" y="0"/>
                </a:moveTo>
                <a:lnTo>
                  <a:pt x="1455328" y="0"/>
                </a:lnTo>
                <a:lnTo>
                  <a:pt x="1455328" y="1827466"/>
                </a:lnTo>
                <a:lnTo>
                  <a:pt x="0" y="1827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30737" y="1028700"/>
            <a:ext cx="14226525" cy="4001210"/>
          </a:xfrm>
          <a:custGeom>
            <a:avLst/>
            <a:gdLst/>
            <a:ahLst/>
            <a:cxnLst/>
            <a:rect r="r" b="b" t="t" l="l"/>
            <a:pathLst>
              <a:path h="4001210" w="14226525">
                <a:moveTo>
                  <a:pt x="0" y="0"/>
                </a:moveTo>
                <a:lnTo>
                  <a:pt x="14226526" y="0"/>
                </a:lnTo>
                <a:lnTo>
                  <a:pt x="14226526" y="4001210"/>
                </a:lnTo>
                <a:lnTo>
                  <a:pt x="0" y="4001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69030" y="5309361"/>
            <a:ext cx="7349939" cy="3948939"/>
          </a:xfrm>
          <a:custGeom>
            <a:avLst/>
            <a:gdLst/>
            <a:ahLst/>
            <a:cxnLst/>
            <a:rect r="r" b="b" t="t" l="l"/>
            <a:pathLst>
              <a:path h="3948939" w="7349939">
                <a:moveTo>
                  <a:pt x="0" y="0"/>
                </a:moveTo>
                <a:lnTo>
                  <a:pt x="7349940" y="0"/>
                </a:lnTo>
                <a:lnTo>
                  <a:pt x="7349940" y="3948939"/>
                </a:lnTo>
                <a:lnTo>
                  <a:pt x="0" y="3948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36892" y="8960500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4" y="0"/>
                </a:lnTo>
                <a:lnTo>
                  <a:pt x="4499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72463" y="-2019300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5" y="0"/>
                </a:lnTo>
                <a:lnTo>
                  <a:pt x="44992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93712" y="-1546236"/>
            <a:ext cx="3022891" cy="3092471"/>
          </a:xfrm>
          <a:custGeom>
            <a:avLst/>
            <a:gdLst/>
            <a:ahLst/>
            <a:cxnLst/>
            <a:rect r="r" b="b" t="t" l="l"/>
            <a:pathLst>
              <a:path h="3092471" w="3022891">
                <a:moveTo>
                  <a:pt x="0" y="0"/>
                </a:moveTo>
                <a:lnTo>
                  <a:pt x="3022891" y="0"/>
                </a:lnTo>
                <a:lnTo>
                  <a:pt x="3022891" y="3092472"/>
                </a:lnTo>
                <a:lnTo>
                  <a:pt x="0" y="3092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16603" y="970725"/>
            <a:ext cx="7312788" cy="8345550"/>
          </a:xfrm>
          <a:custGeom>
            <a:avLst/>
            <a:gdLst/>
            <a:ahLst/>
            <a:cxnLst/>
            <a:rect r="r" b="b" t="t" l="l"/>
            <a:pathLst>
              <a:path h="8345550" w="7312788">
                <a:moveTo>
                  <a:pt x="0" y="0"/>
                </a:moveTo>
                <a:lnTo>
                  <a:pt x="7312788" y="0"/>
                </a:lnTo>
                <a:lnTo>
                  <a:pt x="7312788" y="8345550"/>
                </a:lnTo>
                <a:lnTo>
                  <a:pt x="0" y="83455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7380" y="4649757"/>
            <a:ext cx="1458884" cy="2057400"/>
          </a:xfrm>
          <a:custGeom>
            <a:avLst/>
            <a:gdLst/>
            <a:ahLst/>
            <a:cxnLst/>
            <a:rect r="r" b="b" t="t" l="l"/>
            <a:pathLst>
              <a:path h="2057400" w="1458884">
                <a:moveTo>
                  <a:pt x="0" y="0"/>
                </a:moveTo>
                <a:lnTo>
                  <a:pt x="1458883" y="0"/>
                </a:lnTo>
                <a:lnTo>
                  <a:pt x="145888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12285" y="5025546"/>
            <a:ext cx="1635749" cy="1681611"/>
          </a:xfrm>
          <a:custGeom>
            <a:avLst/>
            <a:gdLst/>
            <a:ahLst/>
            <a:cxnLst/>
            <a:rect r="r" b="b" t="t" l="l"/>
            <a:pathLst>
              <a:path h="1681611" w="1635749">
                <a:moveTo>
                  <a:pt x="0" y="0"/>
                </a:moveTo>
                <a:lnTo>
                  <a:pt x="1635749" y="0"/>
                </a:lnTo>
                <a:lnTo>
                  <a:pt x="1635749" y="1681611"/>
                </a:lnTo>
                <a:lnTo>
                  <a:pt x="0" y="16816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20801" y="4488215"/>
            <a:ext cx="2026946" cy="2380483"/>
          </a:xfrm>
          <a:custGeom>
            <a:avLst/>
            <a:gdLst/>
            <a:ahLst/>
            <a:cxnLst/>
            <a:rect r="r" b="b" t="t" l="l"/>
            <a:pathLst>
              <a:path h="2380483" w="2026946">
                <a:moveTo>
                  <a:pt x="0" y="0"/>
                </a:moveTo>
                <a:lnTo>
                  <a:pt x="2026946" y="0"/>
                </a:lnTo>
                <a:lnTo>
                  <a:pt x="2026946" y="2380483"/>
                </a:lnTo>
                <a:lnTo>
                  <a:pt x="0" y="23804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2819" y="2228850"/>
            <a:ext cx="7911181" cy="208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000"/>
              </a:lnSpc>
            </a:pPr>
            <a:r>
              <a:rPr lang="en-US" sz="8000" spc="4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FrontEnd for the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36545" y="4435631"/>
            <a:ext cx="59977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JS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00615">
            <a:off x="6318849" y="7077919"/>
            <a:ext cx="5650302" cy="1779845"/>
          </a:xfrm>
          <a:custGeom>
            <a:avLst/>
            <a:gdLst/>
            <a:ahLst/>
            <a:cxnLst/>
            <a:rect r="r" b="b" t="t" l="l"/>
            <a:pathLst>
              <a:path h="1779845" w="5650302">
                <a:moveTo>
                  <a:pt x="0" y="0"/>
                </a:moveTo>
                <a:lnTo>
                  <a:pt x="5650302" y="0"/>
                </a:lnTo>
                <a:lnTo>
                  <a:pt x="5650302" y="1779845"/>
                </a:lnTo>
                <a:lnTo>
                  <a:pt x="0" y="1779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54476" y="3378845"/>
            <a:ext cx="6979047" cy="400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4959"/>
              </a:lnSpc>
            </a:pPr>
            <a:r>
              <a:rPr lang="en-US" sz="16999" spc="84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875829">
            <a:off x="12290109" y="2511446"/>
            <a:ext cx="1813808" cy="1652214"/>
          </a:xfrm>
          <a:custGeom>
            <a:avLst/>
            <a:gdLst/>
            <a:ahLst/>
            <a:cxnLst/>
            <a:rect r="r" b="b" t="t" l="l"/>
            <a:pathLst>
              <a:path h="1652214" w="1813808">
                <a:moveTo>
                  <a:pt x="0" y="0"/>
                </a:moveTo>
                <a:lnTo>
                  <a:pt x="1813808" y="0"/>
                </a:lnTo>
                <a:lnTo>
                  <a:pt x="1813808" y="1652214"/>
                </a:lnTo>
                <a:lnTo>
                  <a:pt x="0" y="1652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799708">
            <a:off x="4332944" y="5844266"/>
            <a:ext cx="1829200" cy="1666235"/>
          </a:xfrm>
          <a:custGeom>
            <a:avLst/>
            <a:gdLst/>
            <a:ahLst/>
            <a:cxnLst/>
            <a:rect r="r" b="b" t="t" l="l"/>
            <a:pathLst>
              <a:path h="1666235" w="1829200">
                <a:moveTo>
                  <a:pt x="0" y="0"/>
                </a:moveTo>
                <a:lnTo>
                  <a:pt x="1829200" y="0"/>
                </a:lnTo>
                <a:lnTo>
                  <a:pt x="1829200" y="1666235"/>
                </a:lnTo>
                <a:lnTo>
                  <a:pt x="0" y="16662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2161" y="596086"/>
            <a:ext cx="1455328" cy="1827467"/>
          </a:xfrm>
          <a:custGeom>
            <a:avLst/>
            <a:gdLst/>
            <a:ahLst/>
            <a:cxnLst/>
            <a:rect r="r" b="b" t="t" l="l"/>
            <a:pathLst>
              <a:path h="1827467" w="1455328">
                <a:moveTo>
                  <a:pt x="0" y="0"/>
                </a:moveTo>
                <a:lnTo>
                  <a:pt x="1455328" y="0"/>
                </a:lnTo>
                <a:lnTo>
                  <a:pt x="1455328" y="1827467"/>
                </a:lnTo>
                <a:lnTo>
                  <a:pt x="0" y="1827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1893" y="8965633"/>
            <a:ext cx="2620560" cy="1788532"/>
          </a:xfrm>
          <a:custGeom>
            <a:avLst/>
            <a:gdLst/>
            <a:ahLst/>
            <a:cxnLst/>
            <a:rect r="r" b="b" t="t" l="l"/>
            <a:pathLst>
              <a:path h="1788532" w="2620560">
                <a:moveTo>
                  <a:pt x="0" y="0"/>
                </a:moveTo>
                <a:lnTo>
                  <a:pt x="2620559" y="0"/>
                </a:lnTo>
                <a:lnTo>
                  <a:pt x="2620559" y="1788532"/>
                </a:lnTo>
                <a:lnTo>
                  <a:pt x="0" y="17885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20779" y="8965633"/>
            <a:ext cx="2825289" cy="693480"/>
          </a:xfrm>
          <a:custGeom>
            <a:avLst/>
            <a:gdLst/>
            <a:ahLst/>
            <a:cxnLst/>
            <a:rect r="r" b="b" t="t" l="l"/>
            <a:pathLst>
              <a:path h="693480" w="2825289">
                <a:moveTo>
                  <a:pt x="0" y="0"/>
                </a:moveTo>
                <a:lnTo>
                  <a:pt x="2825289" y="0"/>
                </a:lnTo>
                <a:lnTo>
                  <a:pt x="2825289" y="693480"/>
                </a:lnTo>
                <a:lnTo>
                  <a:pt x="0" y="693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29503" y="5910442"/>
            <a:ext cx="732949" cy="2057400"/>
          </a:xfrm>
          <a:custGeom>
            <a:avLst/>
            <a:gdLst/>
            <a:ahLst/>
            <a:cxnLst/>
            <a:rect r="r" b="b" t="t" l="l"/>
            <a:pathLst>
              <a:path h="2057400" w="732949">
                <a:moveTo>
                  <a:pt x="0" y="0"/>
                </a:moveTo>
                <a:lnTo>
                  <a:pt x="732949" y="0"/>
                </a:lnTo>
                <a:lnTo>
                  <a:pt x="7329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52188">
            <a:off x="5085599" y="1479878"/>
            <a:ext cx="2001340" cy="1378423"/>
          </a:xfrm>
          <a:custGeom>
            <a:avLst/>
            <a:gdLst/>
            <a:ahLst/>
            <a:cxnLst/>
            <a:rect r="r" b="b" t="t" l="l"/>
            <a:pathLst>
              <a:path h="1378423" w="2001340">
                <a:moveTo>
                  <a:pt x="0" y="0"/>
                </a:moveTo>
                <a:lnTo>
                  <a:pt x="2001340" y="0"/>
                </a:lnTo>
                <a:lnTo>
                  <a:pt x="2001340" y="1378423"/>
                </a:lnTo>
                <a:lnTo>
                  <a:pt x="0" y="13784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029503" y="-778297"/>
            <a:ext cx="1917264" cy="2748766"/>
          </a:xfrm>
          <a:custGeom>
            <a:avLst/>
            <a:gdLst/>
            <a:ahLst/>
            <a:cxnLst/>
            <a:rect r="r" b="b" t="t" l="l"/>
            <a:pathLst>
              <a:path h="2748766" w="1917264">
                <a:moveTo>
                  <a:pt x="0" y="0"/>
                </a:moveTo>
                <a:lnTo>
                  <a:pt x="1917264" y="0"/>
                </a:lnTo>
                <a:lnTo>
                  <a:pt x="1917264" y="2748766"/>
                </a:lnTo>
                <a:lnTo>
                  <a:pt x="0" y="27487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8992" y="3853113"/>
            <a:ext cx="1219415" cy="2580773"/>
          </a:xfrm>
          <a:custGeom>
            <a:avLst/>
            <a:gdLst/>
            <a:ahLst/>
            <a:cxnLst/>
            <a:rect r="r" b="b" t="t" l="l"/>
            <a:pathLst>
              <a:path h="2580773" w="1219415">
                <a:moveTo>
                  <a:pt x="0" y="0"/>
                </a:moveTo>
                <a:lnTo>
                  <a:pt x="1219416" y="0"/>
                </a:lnTo>
                <a:lnTo>
                  <a:pt x="1219416" y="2580774"/>
                </a:lnTo>
                <a:lnTo>
                  <a:pt x="0" y="25807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05049" y="-2835697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4" y="0"/>
                </a:lnTo>
                <a:lnTo>
                  <a:pt x="4499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DAGzxWPYSoE</dc:identifier>
  <dcterms:modified xsi:type="dcterms:W3CDTF">2011-08-01T06:04:30Z</dcterms:modified>
  <cp:revision>1</cp:revision>
  <dc:title>2410030113 A5</dc:title>
</cp:coreProperties>
</file>