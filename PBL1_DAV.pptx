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galin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9859" y="1977370"/>
            <a:ext cx="14642387" cy="140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sz="819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Bank Default Predictor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5753" y="5754624"/>
            <a:ext cx="7175862" cy="6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3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5753" y="6333844"/>
            <a:ext cx="7777666" cy="6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3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2410030019 EADUNUR HARINI SRI REDDY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5753" y="6913065"/>
            <a:ext cx="7175862" cy="6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3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2410030113 JAMPA PRANAV TEJA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5753" y="7492285"/>
            <a:ext cx="7175862" cy="6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3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2410030068 D.Bharani Amoolya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24051" y="3302120"/>
            <a:ext cx="11834004" cy="59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Using Data Science and analytics to Predict Loan Defaults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70961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7949"/>
            <a:ext cx="16230600" cy="168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Banks lose significant revenue due to loan defaults.</a:t>
            </a:r>
          </a:p>
          <a:p>
            <a:pPr algn="l">
              <a:lnSpc>
                <a:spcPts val="4521"/>
              </a:lnSpc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Manually checking each customer’s creditworthiness is time consuming and prone to human error.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96594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goal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00582"/>
            <a:ext cx="16230600" cy="112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To predict whether a customer is likely to default on a loan using their financial and personal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47533" y="2285489"/>
            <a:ext cx="3411767" cy="5716022"/>
            <a:chOff x="0" y="0"/>
            <a:chExt cx="4549023" cy="7621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30173" y="2969341"/>
              <a:ext cx="2412951" cy="2025155"/>
            </a:xfrm>
            <a:custGeom>
              <a:avLst/>
              <a:gdLst/>
              <a:ahLst/>
              <a:cxnLst/>
              <a:rect r="r" b="b" t="t" l="l"/>
              <a:pathLst>
                <a:path h="2025155" w="2412951">
                  <a:moveTo>
                    <a:pt x="0" y="0"/>
                  </a:moveTo>
                  <a:lnTo>
                    <a:pt x="2412950" y="0"/>
                  </a:lnTo>
                  <a:lnTo>
                    <a:pt x="2412950" y="2025155"/>
                  </a:lnTo>
                  <a:lnTo>
                    <a:pt x="0" y="202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40111" y="0"/>
              <a:ext cx="993075" cy="1159642"/>
            </a:xfrm>
            <a:custGeom>
              <a:avLst/>
              <a:gdLst/>
              <a:ahLst/>
              <a:cxnLst/>
              <a:rect r="r" b="b" t="t" l="l"/>
              <a:pathLst>
                <a:path h="1159642" w="993075">
                  <a:moveTo>
                    <a:pt x="0" y="0"/>
                  </a:moveTo>
                  <a:lnTo>
                    <a:pt x="993075" y="0"/>
                  </a:lnTo>
                  <a:lnTo>
                    <a:pt x="993075" y="1159642"/>
                  </a:lnTo>
                  <a:lnTo>
                    <a:pt x="0" y="1159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035410" y="1838839"/>
              <a:ext cx="602476" cy="60247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1820302">
              <a:off x="1130173" y="5777706"/>
              <a:ext cx="602476" cy="60247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1823602">
              <a:off x="2940648" y="5777706"/>
              <a:ext cx="602476" cy="60247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6491190"/>
              <a:ext cx="1130173" cy="1130173"/>
            </a:xfrm>
            <a:custGeom>
              <a:avLst/>
              <a:gdLst/>
              <a:ahLst/>
              <a:cxnLst/>
              <a:rect r="r" b="b" t="t" l="l"/>
              <a:pathLst>
                <a:path h="1130173" w="1130173">
                  <a:moveTo>
                    <a:pt x="0" y="0"/>
                  </a:moveTo>
                  <a:lnTo>
                    <a:pt x="1130173" y="0"/>
                  </a:lnTo>
                  <a:lnTo>
                    <a:pt x="1130173" y="1130172"/>
                  </a:lnTo>
                  <a:lnTo>
                    <a:pt x="0" y="113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543123" y="6615462"/>
              <a:ext cx="1005900" cy="1005900"/>
            </a:xfrm>
            <a:custGeom>
              <a:avLst/>
              <a:gdLst/>
              <a:ahLst/>
              <a:cxnLst/>
              <a:rect r="r" b="b" t="t" l="l"/>
              <a:pathLst>
                <a:path h="1005900" w="1005900">
                  <a:moveTo>
                    <a:pt x="0" y="0"/>
                  </a:moveTo>
                  <a:lnTo>
                    <a:pt x="1005900" y="0"/>
                  </a:lnTo>
                  <a:lnTo>
                    <a:pt x="1005900" y="1005900"/>
                  </a:lnTo>
                  <a:lnTo>
                    <a:pt x="0" y="100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904875"/>
            <a:ext cx="6717161" cy="106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1"/>
              </a:lnSpc>
            </a:pPr>
            <a:r>
              <a:rPr lang="en-US" sz="623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Our</a:t>
            </a:r>
            <a:r>
              <a:rPr lang="en-US" sz="623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682169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Approach: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889156"/>
            <a:ext cx="16230600" cy="168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Use m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achine learning to build a prediction model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Train the model using real banking data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Predict loan default risk for new or existing customers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259454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Benefits: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7466442"/>
            <a:ext cx="16230600" cy="112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Faster 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and more accurate credit decisions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educes financial risk for banks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9172672" cy="78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58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H</a:t>
            </a:r>
            <a:r>
              <a:rPr lang="en-US" sz="458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ow We Use Python in This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89156"/>
            <a:ext cx="16230600" cy="5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12824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Features: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89797"/>
            <a:ext cx="16230600" cy="538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6807" indent="-413403" lvl="1">
              <a:lnSpc>
                <a:spcPts val="5361"/>
              </a:lnSpc>
              <a:buFont typeface="Arial"/>
              <a:buChar char="•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Uses customer d</a:t>
            </a: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ata like </a:t>
            </a:r>
          </a:p>
          <a:p>
            <a:pPr algn="l" marL="1653614" indent="-551205" lvl="2">
              <a:lnSpc>
                <a:spcPts val="5361"/>
              </a:lnSpc>
              <a:buFont typeface="Arial"/>
              <a:buChar char="⚬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income</a:t>
            </a:r>
          </a:p>
          <a:p>
            <a:pPr algn="l" marL="1653614" indent="-551205" lvl="2">
              <a:lnSpc>
                <a:spcPts val="5361"/>
              </a:lnSpc>
              <a:buFont typeface="Arial"/>
              <a:buChar char="⚬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age</a:t>
            </a:r>
          </a:p>
          <a:p>
            <a:pPr algn="l" marL="1653614" indent="-551205" lvl="2">
              <a:lnSpc>
                <a:spcPts val="5361"/>
              </a:lnSpc>
              <a:buFont typeface="Arial"/>
              <a:buChar char="⚬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loan amount</a:t>
            </a:r>
          </a:p>
          <a:p>
            <a:pPr algn="l" marL="826807" indent="-413403" lvl="1">
              <a:lnSpc>
                <a:spcPts val="5361"/>
              </a:lnSpc>
              <a:buFont typeface="Arial"/>
              <a:buChar char="•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Cleans and prepares the data for analysis</a:t>
            </a:r>
          </a:p>
          <a:p>
            <a:pPr algn="l" marL="826807" indent="-413403" lvl="1">
              <a:lnSpc>
                <a:spcPts val="5361"/>
              </a:lnSpc>
              <a:buFont typeface="Arial"/>
              <a:buChar char="•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Trains a machine learning model to learn patterns</a:t>
            </a:r>
          </a:p>
          <a:p>
            <a:pPr algn="l" marL="826807" indent="-413403" lvl="1">
              <a:lnSpc>
                <a:spcPts val="5361"/>
              </a:lnSpc>
              <a:buFont typeface="Arial"/>
              <a:buChar char="•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Predicts if a customer will default or not</a:t>
            </a:r>
          </a:p>
          <a:p>
            <a:pPr algn="l" marL="826807" indent="-413403" lvl="1">
              <a:lnSpc>
                <a:spcPts val="5361"/>
              </a:lnSpc>
              <a:buFont typeface="Arial"/>
              <a:buChar char="•"/>
            </a:pPr>
            <a:r>
              <a:rPr lang="en-US" sz="38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Shows accuracy of the model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6717161" cy="106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1"/>
              </a:lnSpc>
            </a:pPr>
            <a:r>
              <a:rPr lang="en-US" sz="623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</a:t>
            </a:r>
            <a:r>
              <a:rPr lang="en-US" sz="623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oject Outcome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82169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Expected Outcome: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89156"/>
            <a:ext cx="16230600" cy="168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 working model that predicts loan default probability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High 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Accuracy of based on selected algorithm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Helps banks take better loan approval decisions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59454"/>
            <a:ext cx="6075295" cy="8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4"/>
              </a:lnSpc>
            </a:pPr>
            <a:r>
              <a:rPr lang="en-US" sz="528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Future Scope: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66442"/>
            <a:ext cx="16230600" cy="112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Deploy as a web </a:t>
            </a: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app for banks</a:t>
            </a:r>
          </a:p>
          <a:p>
            <a:pPr algn="l" marL="697269" indent="-348635" lvl="1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Add real time data and advanced models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460" y="2503555"/>
            <a:ext cx="5260383" cy="6356958"/>
          </a:xfrm>
          <a:custGeom>
            <a:avLst/>
            <a:gdLst/>
            <a:ahLst/>
            <a:cxnLst/>
            <a:rect r="r" b="b" t="t" l="l"/>
            <a:pathLst>
              <a:path h="6356958" w="5260383">
                <a:moveTo>
                  <a:pt x="0" y="0"/>
                </a:moveTo>
                <a:lnTo>
                  <a:pt x="5260383" y="0"/>
                </a:lnTo>
                <a:lnTo>
                  <a:pt x="526038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09304" y="2503555"/>
            <a:ext cx="6166970" cy="5181714"/>
          </a:xfrm>
          <a:custGeom>
            <a:avLst/>
            <a:gdLst/>
            <a:ahLst/>
            <a:cxnLst/>
            <a:rect r="r" b="b" t="t" l="l"/>
            <a:pathLst>
              <a:path h="5181714" w="6166970">
                <a:moveTo>
                  <a:pt x="0" y="0"/>
                </a:moveTo>
                <a:lnTo>
                  <a:pt x="6166970" y="0"/>
                </a:lnTo>
                <a:lnTo>
                  <a:pt x="6166970" y="5181714"/>
                </a:lnTo>
                <a:lnTo>
                  <a:pt x="0" y="51817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62025"/>
            <a:ext cx="4567884" cy="6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sz="36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DATASET: (kaggle.com)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2205" y="4953213"/>
            <a:ext cx="20449723" cy="20449723"/>
          </a:xfrm>
          <a:custGeom>
            <a:avLst/>
            <a:gdLst/>
            <a:ahLst/>
            <a:cxnLst/>
            <a:rect r="r" b="b" t="t" l="l"/>
            <a:pathLst>
              <a:path h="20449723" w="20449723">
                <a:moveTo>
                  <a:pt x="0" y="0"/>
                </a:moveTo>
                <a:lnTo>
                  <a:pt x="20449723" y="0"/>
                </a:lnTo>
                <a:lnTo>
                  <a:pt x="20449723" y="20449724"/>
                </a:lnTo>
                <a:lnTo>
                  <a:pt x="0" y="204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9309" y="-11240338"/>
            <a:ext cx="16922372" cy="16922372"/>
          </a:xfrm>
          <a:custGeom>
            <a:avLst/>
            <a:gdLst/>
            <a:ahLst/>
            <a:cxnLst/>
            <a:rect r="r" b="b" t="t" l="l"/>
            <a:pathLst>
              <a:path h="16922372" w="16922372">
                <a:moveTo>
                  <a:pt x="0" y="0"/>
                </a:moveTo>
                <a:lnTo>
                  <a:pt x="16922371" y="0"/>
                </a:lnTo>
                <a:lnTo>
                  <a:pt x="16922371" y="16922372"/>
                </a:lnTo>
                <a:lnTo>
                  <a:pt x="0" y="1692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33328" y="4142564"/>
            <a:ext cx="6221345" cy="179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0"/>
              </a:lnSpc>
            </a:pPr>
            <a:r>
              <a:rPr lang="en-US" sz="10436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DAGvLVwfi4M</dc:identifier>
  <dcterms:modified xsi:type="dcterms:W3CDTF">2011-08-01T06:04:30Z</dcterms:modified>
  <cp:revision>1</cp:revision>
  <dc:title>Bank Default Predictor</dc:title>
</cp:coreProperties>
</file>